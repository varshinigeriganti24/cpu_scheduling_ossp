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F7B04-E81D-4219-AA87-A60C5F6C90A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3F284E-37A3-474B-859E-213CFF6344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38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F284E-37A3-474B-859E-213CFF6344D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9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589520" y="1325880"/>
            <a:ext cx="3749039" cy="3337560"/>
          </a:xfrm>
          <a:prstGeom prst="roundRect">
            <a:avLst/>
          </a:prstGeom>
          <a:solidFill>
            <a:srgbClr val="192B48"/>
          </a:solidFill>
          <a:ln>
            <a:solidFill>
              <a:srgbClr val="3D5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845552" y="1536192"/>
            <a:ext cx="118872" cy="118872"/>
          </a:xfrm>
          <a:prstGeom prst="ellipse">
            <a:avLst/>
          </a:prstGeom>
          <a:solidFill>
            <a:srgbClr val="C1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01583" y="1536192"/>
            <a:ext cx="118872" cy="118872"/>
          </a:xfrm>
          <a:prstGeom prst="ellipse">
            <a:avLst/>
          </a:prstGeom>
          <a:solidFill>
            <a:srgbClr val="F4A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357616" y="1536192"/>
            <a:ext cx="118872" cy="118872"/>
          </a:xfrm>
          <a:prstGeom prst="ellipse">
            <a:avLst/>
          </a:prstGeom>
          <a:solidFill>
            <a:srgbClr val="359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82127" y="1938528"/>
            <a:ext cx="3063240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700" b="1">
                <a:solidFill>
                  <a:srgbClr val="27BEBE"/>
                </a:solidFill>
                <a:latin typeface="Consolas"/>
              </a:rPr>
              <a:t>$ time ./my_command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82127" y="2423160"/>
            <a:ext cx="306324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onsolas"/>
              </a:rPr>
              <a:t>real   0m1.284s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82127" y="2816352"/>
            <a:ext cx="306324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onsolas"/>
              </a:rPr>
              <a:t>user   0m0.972s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7" y="3209544"/>
            <a:ext cx="306324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onsolas"/>
              </a:rPr>
              <a:t>sys    0m0.184s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3803904"/>
            <a:ext cx="3063240" cy="5029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300" b="1">
                <a:solidFill>
                  <a:srgbClr val="27BEBE"/>
                </a:solidFill>
                <a:latin typeface="Aptos"/>
              </a:rPr>
              <a:t>Measure • Compare • Optimize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914400"/>
            <a:ext cx="6217920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400" b="1">
                <a:solidFill>
                  <a:srgbClr val="27BEBE"/>
                </a:solidFill>
                <a:latin typeface="Aptos"/>
              </a:rPr>
              <a:t>LINUX / SYSTEMS PROGRAMMING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508760"/>
            <a:ext cx="6583680" cy="13716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Linux Command
Execution Time Profiler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00400"/>
            <a:ext cx="6126480" cy="7772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900" b="0">
                <a:solidFill>
                  <a:srgbClr val="D5E0EF"/>
                </a:solidFill>
                <a:latin typeface="Aptos"/>
              </a:rPr>
              <a:t>A tool to measure command execution time and resource usage for faster, evidence-based performance analysis.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251960"/>
            <a:ext cx="960120" cy="54864"/>
          </a:xfrm>
          <a:prstGeom prst="rect">
            <a:avLst/>
          </a:prstGeom>
          <a:solidFill>
            <a:srgbClr val="27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617720"/>
            <a:ext cx="6492240" cy="246221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300" b="0" dirty="0">
                <a:solidFill>
                  <a:srgbClr val="BBCBE0"/>
                </a:solidFill>
                <a:latin typeface="Aptos"/>
              </a:rPr>
              <a:t>Prepared by: [</a:t>
            </a:r>
            <a:r>
              <a:rPr lang="en-US" sz="1300" dirty="0">
                <a:solidFill>
                  <a:srgbClr val="BBCBE0"/>
                </a:solidFill>
                <a:latin typeface="Aptos"/>
              </a:rPr>
              <a:t>M.AVISHYA , G.VARSHINI , K.PRAGNYA</a:t>
            </a:r>
            <a:r>
              <a:rPr sz="1300" b="0" dirty="0">
                <a:solidFill>
                  <a:srgbClr val="BBCBE0"/>
                </a:solidFill>
                <a:latin typeface="Aptos"/>
              </a:rPr>
              <a:t>]  |  Section: [</a:t>
            </a:r>
            <a:r>
              <a:rPr lang="en-US" sz="1300" dirty="0">
                <a:solidFill>
                  <a:srgbClr val="BBCBE0"/>
                </a:solidFill>
                <a:latin typeface="Aptos"/>
              </a:rPr>
              <a:t>1</a:t>
            </a:r>
            <a:r>
              <a:rPr sz="1300" b="0" dirty="0">
                <a:solidFill>
                  <a:srgbClr val="BBCBE0"/>
                </a:solidFill>
                <a:latin typeface="Aptos"/>
              </a:rPr>
              <a:t>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217920"/>
            <a:ext cx="4754880" cy="2286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000" b="0">
                <a:solidFill>
                  <a:srgbClr val="92A6C2"/>
                </a:solidFill>
                <a:latin typeface="Aptos"/>
              </a:rP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2700" b="1">
                <a:solidFill>
                  <a:srgbClr val="101C33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731520" cy="50292"/>
          </a:xfrm>
          <a:prstGeom prst="rect">
            <a:avLst/>
          </a:prstGeom>
          <a:solidFill>
            <a:srgbClr val="27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832104"/>
            <a:ext cx="9875520" cy="2468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000" b="0">
                <a:solidFill>
                  <a:srgbClr val="657284"/>
                </a:solidFill>
                <a:latin typeface="Aptos"/>
              </a:rPr>
              <a:t>Why command profiling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/>
            <a:r>
              <a:rPr sz="1000" b="0">
                <a:solidFill>
                  <a:srgbClr val="657284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53312"/>
            <a:ext cx="5303520" cy="1828800"/>
          </a:xfrm>
          <a:prstGeom prst="roundRect">
            <a:avLst/>
          </a:prstGeom>
          <a:solidFill>
            <a:srgbClr val="F1F6FC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53312"/>
            <a:ext cx="68580" cy="18288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490472"/>
            <a:ext cx="4956048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600" b="1">
                <a:solidFill>
                  <a:srgbClr val="101C33"/>
                </a:solidFill>
                <a:latin typeface="Aptos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74519"/>
            <a:ext cx="4937759" cy="121615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300" b="0">
                <a:solidFill>
                  <a:srgbClr val="263142"/>
                </a:solidFill>
                <a:latin typeface="Aptos"/>
              </a:rPr>
              <a:t>Users often do not know how long a Linux command takes or how much CPU time it consumes. Running commands manually and comparing output is inconvenient and makes performance bottlenecks harder to identify.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53312"/>
            <a:ext cx="5303520" cy="1828800"/>
          </a:xfrm>
          <a:prstGeom prst="roundRect">
            <a:avLst/>
          </a:prstGeom>
          <a:solidFill>
            <a:srgbClr val="F1F6FC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53312"/>
            <a:ext cx="68580" cy="1828800"/>
          </a:xfrm>
          <a:prstGeom prst="rect">
            <a:avLst/>
          </a:prstGeom>
          <a:solidFill>
            <a:srgbClr val="27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490472"/>
            <a:ext cx="4956048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600" b="1">
                <a:solidFill>
                  <a:srgbClr val="101C33"/>
                </a:solidFill>
                <a:latin typeface="Aptos"/>
              </a:rPr>
              <a:t>Proposed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874519"/>
            <a:ext cx="4937759" cy="121615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300" b="0">
                <a:solidFill>
                  <a:srgbClr val="263142"/>
                </a:solidFill>
                <a:latin typeface="Aptos"/>
              </a:rPr>
              <a:t>Create a command-line profiler that executes a selected command, records elapsed time and CPU resource usage, and presents results in a consistent, readable format.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47872"/>
            <a:ext cx="4754880" cy="34747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2000" b="1">
                <a:solidFill>
                  <a:srgbClr val="101C33"/>
                </a:solidFill>
                <a:latin typeface="Aptos"/>
              </a:rPr>
              <a:t>Project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77639"/>
            <a:ext cx="10789920" cy="2011680"/>
          </a:xfrm>
          <a:prstGeom prst="rect">
            <a:avLst/>
          </a:prstGeom>
          <a:noFill/>
        </p:spPr>
        <p:txBody>
          <a:bodyPr wrap="square" lIns="73152" tIns="36576" rIns="36576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63142"/>
                </a:solidFill>
                <a:latin typeface="Aptos"/>
              </a:defRPr>
            </a:pPr>
            <a:r>
              <a:t>•  Measure wall-clock (elapsed) execution time.</a:t>
            </a:r>
          </a:p>
          <a:p>
            <a:pPr>
              <a:spcAft>
                <a:spcPts val="700"/>
              </a:spcAft>
              <a:defRPr sz="1600">
                <a:solidFill>
                  <a:srgbClr val="263142"/>
                </a:solidFill>
                <a:latin typeface="Aptos"/>
              </a:defRPr>
            </a:pPr>
            <a:r>
              <a:t>•  Capture CPU user time, system time, and exit status where available.</a:t>
            </a:r>
          </a:p>
          <a:p>
            <a:pPr>
              <a:spcAft>
                <a:spcPts val="700"/>
              </a:spcAft>
              <a:defRPr sz="1600">
                <a:solidFill>
                  <a:srgbClr val="263142"/>
                </a:solidFill>
                <a:latin typeface="Aptos"/>
              </a:defRPr>
            </a:pPr>
            <a:r>
              <a:t>•  Optionally collect peak memory and other resource statistics.</a:t>
            </a:r>
          </a:p>
          <a:p>
            <a:pPr>
              <a:spcAft>
                <a:spcPts val="700"/>
              </a:spcAft>
              <a:defRPr sz="1600">
                <a:solidFill>
                  <a:srgbClr val="263142"/>
                </a:solidFill>
                <a:latin typeface="Aptos"/>
              </a:defRPr>
            </a:pPr>
            <a:r>
              <a:t>•  Compare repeated runs and help users spot unusually slow commands.</a:t>
            </a:r>
          </a:p>
          <a:p>
            <a:pPr>
              <a:spcAft>
                <a:spcPts val="700"/>
              </a:spcAft>
              <a:defRPr sz="1600">
                <a:solidFill>
                  <a:srgbClr val="263142"/>
                </a:solidFill>
                <a:latin typeface="Aptos"/>
              </a:defRPr>
            </a:pPr>
            <a:r>
              <a:t>•  Keep output simple enough for developers, students, and Linux administrators.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2700" b="1">
                <a:solidFill>
                  <a:srgbClr val="101C33"/>
                </a:solidFill>
                <a:latin typeface="Aptos"/>
              </a:rPr>
              <a:t>Scope &amp; 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731520" cy="50292"/>
          </a:xfrm>
          <a:prstGeom prst="rect">
            <a:avLst/>
          </a:prstGeom>
          <a:solidFill>
            <a:srgbClr val="27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832104"/>
            <a:ext cx="9875520" cy="2468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000" b="0">
                <a:solidFill>
                  <a:srgbClr val="657284"/>
                </a:solidFill>
                <a:latin typeface="Aptos"/>
              </a:rPr>
              <a:t>What the profiler is designed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/>
            <a:r>
              <a:rPr sz="1000" b="0">
                <a:solidFill>
                  <a:srgbClr val="657284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74720" cy="1645920"/>
          </a:xfrm>
          <a:prstGeom prst="roundRect">
            <a:avLst/>
          </a:prstGeom>
          <a:solidFill>
            <a:srgbClr val="F1F6FC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8580" cy="164592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54480"/>
            <a:ext cx="3127248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600" b="1">
                <a:solidFill>
                  <a:srgbClr val="101C33"/>
                </a:solidFill>
                <a:latin typeface="Aptos"/>
              </a:rPr>
              <a:t>Developers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38528"/>
            <a:ext cx="3108960" cy="1033271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300" b="0">
                <a:solidFill>
                  <a:srgbClr val="263142"/>
                </a:solidFill>
                <a:latin typeface="Aptos"/>
              </a:rPr>
              <a:t>Measure build scripts, tests, data-processing commands, and utilities.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474720" cy="1645920"/>
          </a:xfrm>
          <a:prstGeom prst="roundRect">
            <a:avLst/>
          </a:prstGeom>
          <a:solidFill>
            <a:srgbClr val="F1F6FC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417320"/>
            <a:ext cx="68580" cy="1645920"/>
          </a:xfrm>
          <a:prstGeom prst="rect">
            <a:avLst/>
          </a:prstGeom>
          <a:solidFill>
            <a:srgbClr val="27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554480"/>
            <a:ext cx="3127248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600" b="1">
                <a:solidFill>
                  <a:srgbClr val="101C33"/>
                </a:solidFill>
                <a:latin typeface="Aptos"/>
              </a:rPr>
              <a:t>System administrators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38528"/>
            <a:ext cx="3108960" cy="1033271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300" b="0">
                <a:solidFill>
                  <a:srgbClr val="263142"/>
                </a:solidFill>
                <a:latin typeface="Aptos"/>
              </a:rPr>
              <a:t>Inspect scheduled jobs, maintenance scripts, and command-line workflows.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474720" cy="1645920"/>
          </a:xfrm>
          <a:prstGeom prst="roundRect">
            <a:avLst/>
          </a:prstGeom>
          <a:solidFill>
            <a:srgbClr val="F1F6FC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68580" cy="1645920"/>
          </a:xfrm>
          <a:prstGeom prst="rect">
            <a:avLst/>
          </a:prstGeom>
          <a:solidFill>
            <a:srgbClr val="F4A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554480"/>
            <a:ext cx="3127248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600" b="1">
                <a:solidFill>
                  <a:srgbClr val="101C33"/>
                </a:solidFill>
                <a:latin typeface="Aptos"/>
              </a:rPr>
              <a:t>Students &amp; learners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38528"/>
            <a:ext cx="3108960" cy="1033271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300" b="0">
                <a:solidFill>
                  <a:srgbClr val="263142"/>
                </a:solidFill>
                <a:latin typeface="Aptos"/>
              </a:rPr>
              <a:t>Understand the difference between elapsed time and CPU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566160"/>
            <a:ext cx="4572000" cy="34747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2000" b="1">
                <a:solidFill>
                  <a:srgbClr val="101C33"/>
                </a:solidFill>
                <a:latin typeface="Aptos"/>
              </a:rPr>
              <a:t>Functional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60"/>
            <a:ext cx="10607040" cy="1645920"/>
          </a:xfrm>
          <a:prstGeom prst="rect">
            <a:avLst/>
          </a:prstGeom>
          <a:noFill/>
        </p:spPr>
        <p:txBody>
          <a:bodyPr wrap="square" lIns="73152" tIns="36576" rIns="36576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63142"/>
                </a:solidFill>
                <a:latin typeface="Aptos"/>
              </a:defRPr>
            </a:pPr>
            <a:r>
              <a:t>•  Accept a command and its arguments from the user.</a:t>
            </a:r>
          </a:p>
          <a:p>
            <a:pPr>
              <a:spcAft>
                <a:spcPts val="800"/>
              </a:spcAft>
              <a:defRPr sz="1600">
                <a:solidFill>
                  <a:srgbClr val="263142"/>
                </a:solidFill>
                <a:latin typeface="Aptos"/>
              </a:defRPr>
            </a:pPr>
            <a:r>
              <a:t>•  Execute the command safely as a child process, without requiring root privileges.</a:t>
            </a:r>
          </a:p>
          <a:p>
            <a:pPr>
              <a:spcAft>
                <a:spcPts val="800"/>
              </a:spcAft>
              <a:defRPr sz="1600">
                <a:solidFill>
                  <a:srgbClr val="263142"/>
                </a:solidFill>
                <a:latin typeface="Aptos"/>
              </a:defRPr>
            </a:pPr>
            <a:r>
              <a:t>•  Record start/end timestamps and retrieve process resource usage.</a:t>
            </a:r>
          </a:p>
          <a:p>
            <a:pPr>
              <a:spcAft>
                <a:spcPts val="800"/>
              </a:spcAft>
              <a:defRPr sz="1600">
                <a:solidFill>
                  <a:srgbClr val="263142"/>
                </a:solidFill>
                <a:latin typeface="Aptos"/>
              </a:defRPr>
            </a:pPr>
            <a:r>
              <a:t>•  Display the command, timing metrics, exit code, and optional resource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2700" b="1">
                <a:solidFill>
                  <a:srgbClr val="101C33"/>
                </a:solidFill>
                <a:latin typeface="Aptos"/>
              </a:rPr>
              <a:t>System Design &amp;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731520" cy="50292"/>
          </a:xfrm>
          <a:prstGeom prst="rect">
            <a:avLst/>
          </a:prstGeom>
          <a:solidFill>
            <a:srgbClr val="27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832104"/>
            <a:ext cx="9875520" cy="2468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000" b="0">
                <a:solidFill>
                  <a:srgbClr val="657284"/>
                </a:solidFill>
                <a:latin typeface="Aptos"/>
              </a:rPr>
              <a:t>A small pipeline with clear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/>
            <a:r>
              <a:rPr sz="1000" b="0">
                <a:solidFill>
                  <a:srgbClr val="657284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1691640" cy="1143000"/>
          </a:xfrm>
          <a:prstGeom prst="roundRect">
            <a:avLst/>
          </a:prstGeom>
          <a:solidFill>
            <a:srgbClr val="F1F6FC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2011680"/>
            <a:ext cx="1545336" cy="25603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/>
            <a:r>
              <a:rPr sz="1400" b="1">
                <a:solidFill>
                  <a:srgbClr val="101C33"/>
                </a:solidFill>
                <a:latin typeface="Aptos"/>
              </a:rPr>
              <a:t>1.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377440"/>
            <a:ext cx="1545336" cy="38404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/>
            <a:r>
              <a:rPr sz="1100" b="0">
                <a:solidFill>
                  <a:srgbClr val="263142"/>
                </a:solidFill>
                <a:latin typeface="Aptos"/>
              </a:rPr>
              <a:t>Command + arguments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828800"/>
            <a:ext cx="1691640" cy="1143000"/>
          </a:xfrm>
          <a:prstGeom prst="roundRect">
            <a:avLst/>
          </a:prstGeom>
          <a:solidFill>
            <a:srgbClr val="F1F6FC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99232" y="2011680"/>
            <a:ext cx="1545336" cy="25603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/>
            <a:r>
              <a:rPr sz="1400" b="1">
                <a:solidFill>
                  <a:srgbClr val="101C33"/>
                </a:solidFill>
                <a:latin typeface="Aptos"/>
              </a:rPr>
              <a:t>2. Runner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2377440"/>
            <a:ext cx="1545336" cy="38404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/>
            <a:r>
              <a:rPr sz="1100" b="0">
                <a:solidFill>
                  <a:srgbClr val="263142"/>
                </a:solidFill>
                <a:latin typeface="Aptos"/>
              </a:rPr>
              <a:t>Launch child process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1828800"/>
            <a:ext cx="1691640" cy="1143000"/>
          </a:xfrm>
          <a:prstGeom prst="roundRect">
            <a:avLst/>
          </a:prstGeom>
          <a:solidFill>
            <a:srgbClr val="F1F6FC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30952" y="2011680"/>
            <a:ext cx="1545336" cy="25603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/>
            <a:r>
              <a:rPr sz="1400" b="1">
                <a:solidFill>
                  <a:srgbClr val="101C33"/>
                </a:solidFill>
                <a:latin typeface="Aptos"/>
              </a:rPr>
              <a:t>3. Collector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2377440"/>
            <a:ext cx="1545336" cy="38404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/>
            <a:r>
              <a:rPr sz="1100" b="0">
                <a:solidFill>
                  <a:srgbClr val="263142"/>
                </a:solidFill>
                <a:latin typeface="Aptos"/>
              </a:rPr>
              <a:t>Clock + resource stats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828800"/>
            <a:ext cx="1691640" cy="1143000"/>
          </a:xfrm>
          <a:prstGeom prst="roundRect">
            <a:avLst/>
          </a:prstGeom>
          <a:solidFill>
            <a:srgbClr val="F1F6FC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62672" y="2011680"/>
            <a:ext cx="1545336" cy="25603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/>
            <a:r>
              <a:rPr sz="1400" b="1">
                <a:solidFill>
                  <a:srgbClr val="101C33"/>
                </a:solidFill>
                <a:latin typeface="Aptos"/>
              </a:rPr>
              <a:t>4. Analyzer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2672" y="2377440"/>
            <a:ext cx="1545336" cy="38404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/>
            <a:r>
              <a:rPr sz="1100" b="0">
                <a:solidFill>
                  <a:srgbClr val="263142"/>
                </a:solidFill>
                <a:latin typeface="Aptos"/>
              </a:rPr>
              <a:t>Compute 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21240" y="1828800"/>
            <a:ext cx="1691640" cy="1143000"/>
          </a:xfrm>
          <a:prstGeom prst="roundRect">
            <a:avLst/>
          </a:prstGeom>
          <a:solidFill>
            <a:srgbClr val="F1F6FC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94392" y="2011680"/>
            <a:ext cx="1545336" cy="25603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/>
            <a:r>
              <a:rPr sz="1400" b="1">
                <a:solidFill>
                  <a:srgbClr val="101C33"/>
                </a:solidFill>
                <a:latin typeface="Aptos"/>
              </a:rPr>
              <a:t>5.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94392" y="2377440"/>
            <a:ext cx="1545336" cy="38404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/>
            <a:r>
              <a:rPr sz="1100" b="0">
                <a:solidFill>
                  <a:srgbClr val="263142"/>
                </a:solidFill>
                <a:latin typeface="Aptos"/>
              </a:rPr>
              <a:t>Readable summary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9152" y="2212848"/>
            <a:ext cx="320040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/>
            <a:r>
              <a:rPr sz="2200" b="1">
                <a:solidFill>
                  <a:srgbClr val="27BEBE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0872" y="2212848"/>
            <a:ext cx="320040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/>
            <a:r>
              <a:rPr sz="2200" b="1">
                <a:solidFill>
                  <a:srgbClr val="27BEBE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2212848"/>
            <a:ext cx="320040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/>
            <a:r>
              <a:rPr sz="2200" b="1">
                <a:solidFill>
                  <a:srgbClr val="27BEBE"/>
                </a:solidFill>
                <a:latin typeface="Apto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312" y="2212848"/>
            <a:ext cx="320040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/>
            <a:r>
              <a:rPr sz="2200" b="1">
                <a:solidFill>
                  <a:srgbClr val="27BEBE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657600"/>
            <a:ext cx="342900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3657600"/>
            <a:ext cx="68580" cy="141732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3794760"/>
            <a:ext cx="3081528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600" b="1">
                <a:solidFill>
                  <a:srgbClr val="101C33"/>
                </a:solidFill>
                <a:latin typeface="Aptos"/>
              </a:rPr>
              <a:t>Input &amp;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178808"/>
            <a:ext cx="3063240" cy="80467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300" b="0">
                <a:solidFill>
                  <a:srgbClr val="263142"/>
                </a:solidFill>
                <a:latin typeface="Aptos"/>
              </a:rPr>
              <a:t>Check command presence, argument handling, and invalid options.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3657600"/>
            <a:ext cx="342900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89120" y="3657600"/>
            <a:ext cx="68580" cy="1417320"/>
          </a:xfrm>
          <a:prstGeom prst="rect">
            <a:avLst/>
          </a:prstGeom>
          <a:solidFill>
            <a:srgbClr val="27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90288" y="3794760"/>
            <a:ext cx="3081528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600" b="1">
                <a:solidFill>
                  <a:srgbClr val="101C33"/>
                </a:solidFill>
                <a:latin typeface="Aptos"/>
              </a:rPr>
              <a:t>Execution &amp; measurement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0288" y="4178808"/>
            <a:ext cx="3063240" cy="80467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300" b="0">
                <a:solidFill>
                  <a:srgbClr val="263142"/>
                </a:solidFill>
                <a:latin typeface="Aptos"/>
              </a:rPr>
              <a:t>Use a monotonic clock; collect process resource usage and exit status.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3657600"/>
            <a:ext cx="342900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46720" y="3657600"/>
            <a:ext cx="68580" cy="1417320"/>
          </a:xfrm>
          <a:prstGeom prst="rect">
            <a:avLst/>
          </a:prstGeom>
          <a:solidFill>
            <a:srgbClr val="F4A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47888" y="3794760"/>
            <a:ext cx="3081528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600" b="1">
                <a:solidFill>
                  <a:srgbClr val="101C33"/>
                </a:solidFill>
                <a:latin typeface="Aptos"/>
              </a:rPr>
              <a:t>Reporting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7888" y="4178808"/>
            <a:ext cx="3063240" cy="80467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300" b="0">
                <a:solidFill>
                  <a:srgbClr val="263142"/>
                </a:solidFill>
                <a:latin typeface="Aptos"/>
              </a:rPr>
              <a:t>Format values, flag failures, and optionally compare repeated runs.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577840"/>
            <a:ext cx="10515600" cy="4114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300" b="0">
                <a:solidFill>
                  <a:srgbClr val="657284"/>
                </a:solidFill>
                <a:latin typeface="Aptos"/>
              </a:rPr>
              <a:t>Design principle: separate command execution from measurement and presentation so each part can be tested independently.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2700" b="1">
                <a:solidFill>
                  <a:srgbClr val="101C33"/>
                </a:solidFill>
                <a:latin typeface="Aptos"/>
              </a:rPr>
              <a:t>Metrics Collected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731520" cy="50292"/>
          </a:xfrm>
          <a:prstGeom prst="rect">
            <a:avLst/>
          </a:prstGeom>
          <a:solidFill>
            <a:srgbClr val="27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832104"/>
            <a:ext cx="9875520" cy="2468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000" b="0">
                <a:solidFill>
                  <a:srgbClr val="657284"/>
                </a:solidFill>
                <a:latin typeface="Aptos"/>
              </a:rPr>
              <a:t>What each measurement tells the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/>
            <a:r>
              <a:rPr sz="1000" b="0">
                <a:solidFill>
                  <a:srgbClr val="657284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29000" cy="1508760"/>
          </a:xfrm>
          <a:prstGeom prst="roundRect">
            <a:avLst/>
          </a:prstGeom>
          <a:solidFill>
            <a:srgbClr val="F1F6FC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68580" cy="150876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08760"/>
            <a:ext cx="3081528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600" b="1">
                <a:solidFill>
                  <a:srgbClr val="101C33"/>
                </a:solidFill>
                <a:latin typeface="Aptos"/>
              </a:rPr>
              <a:t>Elapsed / real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92807"/>
            <a:ext cx="3063240" cy="896111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300" b="0">
                <a:solidFill>
                  <a:srgbClr val="263142"/>
                </a:solidFill>
                <a:latin typeface="Aptos"/>
              </a:rPr>
              <a:t>Total time from launch to completion, including waiting and I/O.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29000" cy="1508760"/>
          </a:xfrm>
          <a:prstGeom prst="roundRect">
            <a:avLst/>
          </a:prstGeom>
          <a:solidFill>
            <a:srgbClr val="F1F6FC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68580" cy="1508760"/>
          </a:xfrm>
          <a:prstGeom prst="rect">
            <a:avLst/>
          </a:prstGeom>
          <a:solidFill>
            <a:srgbClr val="27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508760"/>
            <a:ext cx="3081528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600" b="1">
                <a:solidFill>
                  <a:srgbClr val="101C33"/>
                </a:solidFill>
                <a:latin typeface="Aptos"/>
              </a:rPr>
              <a:t>User CPU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892807"/>
            <a:ext cx="3063240" cy="896111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300" b="0">
                <a:solidFill>
                  <a:srgbClr val="263142"/>
                </a:solidFill>
                <a:latin typeface="Aptos"/>
              </a:rPr>
              <a:t>CPU time spent executing the command's user-space 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429000" cy="1508760"/>
          </a:xfrm>
          <a:prstGeom prst="roundRect">
            <a:avLst/>
          </a:prstGeom>
          <a:solidFill>
            <a:srgbClr val="F1F6FC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68580" cy="1508760"/>
          </a:xfrm>
          <a:prstGeom prst="rect">
            <a:avLst/>
          </a:prstGeom>
          <a:solidFill>
            <a:srgbClr val="F4A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508760"/>
            <a:ext cx="3081528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600" b="1">
                <a:solidFill>
                  <a:srgbClr val="101C33"/>
                </a:solidFill>
                <a:latin typeface="Aptos"/>
              </a:rPr>
              <a:t>System CPU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892807"/>
            <a:ext cx="3063240" cy="896111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300" b="0">
                <a:solidFill>
                  <a:srgbClr val="263142"/>
                </a:solidFill>
                <a:latin typeface="Aptos"/>
              </a:rPr>
              <a:t>CPU time spent in kernel operations on behalf of the process.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246120"/>
            <a:ext cx="3429000" cy="1508760"/>
          </a:xfrm>
          <a:prstGeom prst="roundRect">
            <a:avLst/>
          </a:prstGeom>
          <a:solidFill>
            <a:srgbClr val="F1F6FC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246120"/>
            <a:ext cx="68580" cy="1508760"/>
          </a:xfrm>
          <a:prstGeom prst="rect">
            <a:avLst/>
          </a:prstGeom>
          <a:solidFill>
            <a:srgbClr val="359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3383279"/>
            <a:ext cx="3081528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600" b="1">
                <a:solidFill>
                  <a:srgbClr val="101C33"/>
                </a:solidFill>
                <a:latin typeface="Aptos"/>
              </a:rPr>
              <a:t>Exit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767328"/>
            <a:ext cx="3063240" cy="896111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300" b="0">
                <a:solidFill>
                  <a:srgbClr val="263142"/>
                </a:solidFill>
                <a:latin typeface="Aptos"/>
              </a:rPr>
              <a:t>Indicates whether the command completed successfully or failed.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246120"/>
            <a:ext cx="3429000" cy="1508760"/>
          </a:xfrm>
          <a:prstGeom prst="roundRect">
            <a:avLst/>
          </a:prstGeom>
          <a:solidFill>
            <a:srgbClr val="F1F6FC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0" y="3246120"/>
            <a:ext cx="68580" cy="150876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90288" y="3383279"/>
            <a:ext cx="3081528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600" b="1">
                <a:solidFill>
                  <a:srgbClr val="101C33"/>
                </a:solidFill>
                <a:latin typeface="Aptos"/>
              </a:rPr>
              <a:t>Memory usage (optional)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3767328"/>
            <a:ext cx="3063240" cy="896111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300" b="0">
                <a:solidFill>
                  <a:srgbClr val="263142"/>
                </a:solidFill>
                <a:latin typeface="Aptos"/>
              </a:rPr>
              <a:t>Peak resident memory can be collected with OS resource APIs or tools.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246120"/>
            <a:ext cx="3429000" cy="1508760"/>
          </a:xfrm>
          <a:prstGeom prst="roundRect">
            <a:avLst/>
          </a:prstGeom>
          <a:solidFill>
            <a:srgbClr val="F1F6FC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46720" y="3246120"/>
            <a:ext cx="68580" cy="1508760"/>
          </a:xfrm>
          <a:prstGeom prst="rect">
            <a:avLst/>
          </a:prstGeom>
          <a:solidFill>
            <a:srgbClr val="27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47888" y="3383279"/>
            <a:ext cx="3081528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600" b="1">
                <a:solidFill>
                  <a:srgbClr val="101C33"/>
                </a:solidFill>
                <a:latin typeface="Aptos"/>
              </a:rPr>
              <a:t>Repeated-run statistics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3767328"/>
            <a:ext cx="3063240" cy="896111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300" b="0">
                <a:solidFill>
                  <a:srgbClr val="263142"/>
                </a:solidFill>
                <a:latin typeface="Aptos"/>
              </a:rPr>
              <a:t>Minimum, average, and maximum elapsed time across multiple runs.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257800"/>
            <a:ext cx="10607040" cy="5029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300" b="0">
                <a:solidFill>
                  <a:srgbClr val="657284"/>
                </a:solidFill>
                <a:latin typeface="Aptos"/>
              </a:rPr>
              <a:t>Important: real time is not the same as CPU time. A command waiting on disk or the network can have high elapsed time but low CPU usage.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2700" b="1">
                <a:solidFill>
                  <a:srgbClr val="101C33"/>
                </a:solidFill>
                <a:latin typeface="Aptos"/>
              </a:rPr>
              <a:t>Implementation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731520" cy="50292"/>
          </a:xfrm>
          <a:prstGeom prst="rect">
            <a:avLst/>
          </a:prstGeom>
          <a:solidFill>
            <a:srgbClr val="27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832104"/>
            <a:ext cx="9875520" cy="2468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000" b="0">
                <a:solidFill>
                  <a:srgbClr val="657284"/>
                </a:solidFill>
                <a:latin typeface="Aptos"/>
              </a:rPr>
              <a:t>A practical step-by-step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/>
            <a:r>
              <a:rPr sz="1000" b="0">
                <a:solidFill>
                  <a:srgbClr val="657284"/>
                </a:solidFill>
                <a:latin typeface="Aptos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353312"/>
            <a:ext cx="502920" cy="502920"/>
          </a:xfrm>
          <a:prstGeom prst="ellipse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72184"/>
            <a:ext cx="502920" cy="20116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371600"/>
            <a:ext cx="210312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600" b="1">
                <a:solidFill>
                  <a:srgbClr val="101C33"/>
                </a:solidFill>
                <a:latin typeface="Aptos"/>
              </a:rPr>
              <a:t>Parse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371600"/>
            <a:ext cx="7315200" cy="43891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400" b="0">
                <a:solidFill>
                  <a:srgbClr val="263142"/>
                </a:solidFill>
                <a:latin typeface="Aptos"/>
              </a:rPr>
              <a:t>Read the command, arguments, and optional repeat/count flags.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249424"/>
            <a:ext cx="502920" cy="502920"/>
          </a:xfrm>
          <a:prstGeom prst="ellipse">
            <a:avLst/>
          </a:prstGeom>
          <a:solidFill>
            <a:srgbClr val="27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368296"/>
            <a:ext cx="502920" cy="20116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67712"/>
            <a:ext cx="210312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600" b="1">
                <a:solidFill>
                  <a:srgbClr val="101C33"/>
                </a:solidFill>
                <a:latin typeface="Aptos"/>
              </a:rPr>
              <a:t>Start measurement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267712"/>
            <a:ext cx="7315200" cy="43891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400" b="0">
                <a:solidFill>
                  <a:srgbClr val="263142"/>
                </a:solidFill>
                <a:latin typeface="Aptos"/>
              </a:rPr>
              <a:t>Capture a monotonic timestamp immediately before execution.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145536"/>
            <a:ext cx="502920" cy="502920"/>
          </a:xfrm>
          <a:prstGeom prst="ellipse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264408"/>
            <a:ext cx="502920" cy="20116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163824"/>
            <a:ext cx="210312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600" b="1">
                <a:solidFill>
                  <a:srgbClr val="101C33"/>
                </a:solidFill>
                <a:latin typeface="Aptos"/>
              </a:rPr>
              <a:t>Execute command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163824"/>
            <a:ext cx="7315200" cy="43891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400" b="0">
                <a:solidFill>
                  <a:srgbClr val="263142"/>
                </a:solidFill>
                <a:latin typeface="Aptos"/>
              </a:rPr>
              <a:t>Launch a child process and wait for it to finish.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041648"/>
            <a:ext cx="502920" cy="502920"/>
          </a:xfrm>
          <a:prstGeom prst="ellipse">
            <a:avLst/>
          </a:prstGeom>
          <a:solidFill>
            <a:srgbClr val="27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160520"/>
            <a:ext cx="502920" cy="20116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59935"/>
            <a:ext cx="210312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600" b="1">
                <a:solidFill>
                  <a:srgbClr val="101C33"/>
                </a:solidFill>
                <a:latin typeface="Aptos"/>
              </a:rPr>
              <a:t>Collect usage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059935"/>
            <a:ext cx="7315200" cy="43891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400" b="0">
                <a:solidFill>
                  <a:srgbClr val="263142"/>
                </a:solidFill>
                <a:latin typeface="Aptos"/>
              </a:rPr>
              <a:t>Read the finish timestamp, exit status, and process resource statistics.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4937760"/>
            <a:ext cx="502920" cy="502920"/>
          </a:xfrm>
          <a:prstGeom prst="ellipse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056632"/>
            <a:ext cx="502920" cy="20116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956048"/>
            <a:ext cx="210312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600" b="1">
                <a:solidFill>
                  <a:srgbClr val="101C33"/>
                </a:solidFill>
                <a:latin typeface="Aptos"/>
              </a:rPr>
              <a:t>Calculate &amp; display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956048"/>
            <a:ext cx="7315200" cy="43891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400" b="0">
                <a:solidFill>
                  <a:srgbClr val="263142"/>
                </a:solidFill>
                <a:latin typeface="Aptos"/>
              </a:rPr>
              <a:t>Compute elapsed duration, format CPU/memory values, and print a summary.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989320"/>
            <a:ext cx="9875520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200" b="0">
                <a:solidFill>
                  <a:srgbClr val="657284"/>
                </a:solidFill>
                <a:latin typeface="Aptos"/>
              </a:rPr>
              <a:t>For shell-like behavior, document whether the tool runs a direct executable or invokes a shell; avoid unsafe command-string concatenation.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2700" b="1">
                <a:solidFill>
                  <a:srgbClr val="101C33"/>
                </a:solidFill>
                <a:latin typeface="Aptos"/>
              </a:rPr>
              <a:t>Technologies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731520" cy="50292"/>
          </a:xfrm>
          <a:prstGeom prst="rect">
            <a:avLst/>
          </a:prstGeom>
          <a:solidFill>
            <a:srgbClr val="27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832104"/>
            <a:ext cx="9875520" cy="2468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000" b="0">
                <a:solidFill>
                  <a:srgbClr val="657284"/>
                </a:solidFill>
                <a:latin typeface="Aptos"/>
              </a:rPr>
              <a:t>Suggested stack — tailor to your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/>
            <a:r>
              <a:rPr sz="1000" b="0">
                <a:solidFill>
                  <a:srgbClr val="657284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29000" cy="1737360"/>
          </a:xfrm>
          <a:prstGeom prst="roundRect">
            <a:avLst/>
          </a:prstGeom>
          <a:solidFill>
            <a:srgbClr val="F1F6FC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68580" cy="173736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08760"/>
            <a:ext cx="3081528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600" b="1">
                <a:solidFill>
                  <a:srgbClr val="101C33"/>
                </a:solidFill>
                <a:latin typeface="Aptos"/>
              </a:rP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92807"/>
            <a:ext cx="3063240" cy="112471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300" b="0">
                <a:solidFill>
                  <a:srgbClr val="263142"/>
                </a:solidFill>
                <a:latin typeface="Aptos"/>
              </a:rPr>
              <a:t>C for systems-level process control, timestamps, and resource usage.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29000" cy="1737360"/>
          </a:xfrm>
          <a:prstGeom prst="roundRect">
            <a:avLst/>
          </a:prstGeom>
          <a:solidFill>
            <a:srgbClr val="F1F6FC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68580" cy="1737360"/>
          </a:xfrm>
          <a:prstGeom prst="rect">
            <a:avLst/>
          </a:prstGeom>
          <a:solidFill>
            <a:srgbClr val="27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508760"/>
            <a:ext cx="3081528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600" b="1">
                <a:solidFill>
                  <a:srgbClr val="101C33"/>
                </a:solidFill>
                <a:latin typeface="Aptos"/>
              </a:rPr>
              <a:t>Linux APIs /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892807"/>
            <a:ext cx="3063240" cy="112471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200" b="0">
                <a:solidFill>
                  <a:srgbClr val="263142"/>
                </a:solidFill>
                <a:latin typeface="Aptos"/>
              </a:rPr>
              <a:t>fork/exec/wait and clock_gettime; wait4/getrusage or the system `time` utility, depending on design.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429000" cy="1737360"/>
          </a:xfrm>
          <a:prstGeom prst="roundRect">
            <a:avLst/>
          </a:prstGeom>
          <a:solidFill>
            <a:srgbClr val="F1F6FC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68580" cy="1737360"/>
          </a:xfrm>
          <a:prstGeom prst="rect">
            <a:avLst/>
          </a:prstGeom>
          <a:solidFill>
            <a:srgbClr val="F4A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508760"/>
            <a:ext cx="3081528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600" b="1">
                <a:solidFill>
                  <a:srgbClr val="101C33"/>
                </a:solidFill>
                <a:latin typeface="Aptos"/>
              </a:rPr>
              <a:t>Build &amp; test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892807"/>
            <a:ext cx="3063240" cy="112471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300" b="0">
                <a:solidFill>
                  <a:srgbClr val="263142"/>
                </a:solidFill>
                <a:latin typeface="Aptos"/>
              </a:rPr>
              <a:t>GCC or Clang, Make (optional), Bash, and standard Linux command-line utilities.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611880"/>
            <a:ext cx="4754880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2000" b="1">
                <a:solidFill>
                  <a:srgbClr val="101C33"/>
                </a:solidFill>
                <a:latin typeface="Aptos"/>
              </a:rPr>
              <a:t>Core concepts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69080"/>
            <a:ext cx="10424160" cy="1645920"/>
          </a:xfrm>
          <a:prstGeom prst="rect">
            <a:avLst/>
          </a:prstGeom>
          <a:noFill/>
        </p:spPr>
        <p:txBody>
          <a:bodyPr wrap="square" lIns="73152" tIns="36576" rIns="36576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63142"/>
                </a:solidFill>
                <a:latin typeface="Aptos"/>
              </a:defRPr>
            </a:pPr>
            <a:r>
              <a:t>•  Process creation, execution, and exit-status handling.</a:t>
            </a:r>
          </a:p>
          <a:p>
            <a:pPr>
              <a:spcAft>
                <a:spcPts val="800"/>
              </a:spcAft>
              <a:defRPr sz="1600">
                <a:solidFill>
                  <a:srgbClr val="263142"/>
                </a:solidFill>
                <a:latin typeface="Aptos"/>
              </a:defRPr>
            </a:pPr>
            <a:r>
              <a:t>•  Monotonic clocks for measuring elapsed duration reliably.</a:t>
            </a:r>
          </a:p>
          <a:p>
            <a:pPr>
              <a:spcAft>
                <a:spcPts val="800"/>
              </a:spcAft>
              <a:defRPr sz="1600">
                <a:solidFill>
                  <a:srgbClr val="263142"/>
                </a:solidFill>
                <a:latin typeface="Aptos"/>
              </a:defRPr>
            </a:pPr>
            <a:r>
              <a:t>•  Resource accounting for CPU time and optional memory statistics.</a:t>
            </a:r>
          </a:p>
          <a:p>
            <a:pPr>
              <a:spcAft>
                <a:spcPts val="800"/>
              </a:spcAft>
              <a:defRPr sz="1600">
                <a:solidFill>
                  <a:srgbClr val="263142"/>
                </a:solidFill>
                <a:latin typeface="Aptos"/>
              </a:defRPr>
            </a:pPr>
            <a:r>
              <a:t>•  Formatted terminal output and repeatable test cases.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943600"/>
            <a:ext cx="1051560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100" b="0">
                <a:solidFill>
                  <a:srgbClr val="657284"/>
                </a:solidFill>
                <a:latin typeface="Aptos"/>
              </a:rPr>
              <a:t>If the project is written in Python or another language, replace the language and API details above with the actual stack.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2700" b="1">
                <a:solidFill>
                  <a:srgbClr val="101C33"/>
                </a:solidFill>
                <a:latin typeface="Aptos"/>
              </a:rPr>
              <a:t>Testing &amp;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731520" cy="50292"/>
          </a:xfrm>
          <a:prstGeom prst="rect">
            <a:avLst/>
          </a:prstGeom>
          <a:solidFill>
            <a:srgbClr val="27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832104"/>
            <a:ext cx="9875520" cy="2468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000" b="0">
                <a:solidFill>
                  <a:srgbClr val="657284"/>
                </a:solidFill>
                <a:latin typeface="Aptos"/>
              </a:rPr>
              <a:t>Test cases that verify behavior and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/>
            <a:r>
              <a:rPr sz="1000" b="0">
                <a:solidFill>
                  <a:srgbClr val="657284"/>
                </a:solidFill>
                <a:latin typeface="Aptos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325880"/>
          <a:ext cx="110185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7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048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10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Example / input</a:t>
                      </a:r>
                    </a:p>
                  </a:txBody>
                  <a:tcPr>
                    <a:solidFill>
                      <a:srgbClr val="10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101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142"/>
                          </a:solidFill>
                          <a:latin typeface="Aptos"/>
                        </a:defRPr>
                      </a:pPr>
                      <a:r>
                        <a:t>Quick command</a:t>
                      </a:r>
                    </a:p>
                  </a:txBody>
                  <a:tcPr marL="73152" marR="45720" marT="32004" marB="18288">
                    <a:solidFill>
                      <a:srgbClr val="F1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142"/>
                          </a:solidFill>
                          <a:latin typeface="Aptos"/>
                        </a:defRPr>
                      </a:pPr>
                      <a:r>
                        <a:t>echo hello</a:t>
                      </a:r>
                    </a:p>
                  </a:txBody>
                  <a:tcPr marL="73152" marR="45720" marT="32004" marB="18288">
                    <a:solidFill>
                      <a:srgbClr val="F1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142"/>
                          </a:solidFill>
                          <a:latin typeface="Aptos"/>
                        </a:defRPr>
                      </a:pPr>
                      <a:r>
                        <a:t>Finishes; exit code 0; small elapsed time</a:t>
                      </a:r>
                    </a:p>
                  </a:txBody>
                  <a:tcPr marL="73152" marR="45720" marT="32004" marB="18288">
                    <a:solidFill>
                      <a:srgbClr val="F1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142"/>
                          </a:solidFill>
                          <a:latin typeface="Aptos"/>
                        </a:defRPr>
                      </a:pPr>
                      <a:r>
                        <a:t>CPU-bound task</a:t>
                      </a:r>
                    </a:p>
                  </a:txBody>
                  <a:tcPr marL="73152" marR="45720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142"/>
                          </a:solidFill>
                          <a:latin typeface="Aptos"/>
                        </a:defRPr>
                      </a:pPr>
                      <a:r>
                        <a:t>A bounded calculation or compression task</a:t>
                      </a:r>
                    </a:p>
                  </a:txBody>
                  <a:tcPr marL="73152" marR="45720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142"/>
                          </a:solidFill>
                          <a:latin typeface="Aptos"/>
                        </a:defRPr>
                      </a:pPr>
                      <a:r>
                        <a:t>User CPU time should be measurable</a:t>
                      </a:r>
                    </a:p>
                  </a:txBody>
                  <a:tcPr marL="73152" marR="45720" marT="32004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142"/>
                          </a:solidFill>
                          <a:latin typeface="Aptos"/>
                        </a:defRPr>
                      </a:pPr>
                      <a:r>
                        <a:t>Wait-heavy task</a:t>
                      </a:r>
                    </a:p>
                  </a:txBody>
                  <a:tcPr marL="73152" marR="45720" marT="32004" marB="18288">
                    <a:solidFill>
                      <a:srgbClr val="F1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142"/>
                          </a:solidFill>
                          <a:latin typeface="Aptos"/>
                        </a:defRPr>
                      </a:pPr>
                      <a:r>
                        <a:t>sleep 2</a:t>
                      </a:r>
                    </a:p>
                  </a:txBody>
                  <a:tcPr marL="73152" marR="45720" marT="32004" marB="18288">
                    <a:solidFill>
                      <a:srgbClr val="F1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142"/>
                          </a:solidFill>
                          <a:latin typeface="Aptos"/>
                        </a:defRPr>
                      </a:pPr>
                      <a:r>
                        <a:t>Elapsed time near 2 seconds; CPU time remains low</a:t>
                      </a:r>
                    </a:p>
                  </a:txBody>
                  <a:tcPr marL="73152" marR="45720" marT="32004" marB="18288">
                    <a:solidFill>
                      <a:srgbClr val="F1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142"/>
                          </a:solidFill>
                          <a:latin typeface="Aptos"/>
                        </a:defRPr>
                      </a:pPr>
                      <a:r>
                        <a:t>Invalid command</a:t>
                      </a:r>
                    </a:p>
                  </a:txBody>
                  <a:tcPr marL="73152" marR="45720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142"/>
                          </a:solidFill>
                          <a:latin typeface="Aptos"/>
                        </a:defRPr>
                      </a:pPr>
                      <a:r>
                        <a:t>A nonexistent executable</a:t>
                      </a:r>
                    </a:p>
                  </a:txBody>
                  <a:tcPr marL="73152" marR="45720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142"/>
                          </a:solidFill>
                          <a:latin typeface="Aptos"/>
                        </a:defRPr>
                      </a:pPr>
                      <a:r>
                        <a:t>Clear error and nonzero status</a:t>
                      </a:r>
                    </a:p>
                  </a:txBody>
                  <a:tcPr marL="73152" marR="45720" marT="32004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142"/>
                          </a:solidFill>
                          <a:latin typeface="Aptos"/>
                        </a:defRPr>
                      </a:pPr>
                      <a:r>
                        <a:t>Nonzero exit</a:t>
                      </a:r>
                    </a:p>
                  </a:txBody>
                  <a:tcPr marL="73152" marR="45720" marT="32004" marB="18288">
                    <a:solidFill>
                      <a:srgbClr val="F1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142"/>
                          </a:solidFill>
                          <a:latin typeface="Aptos"/>
                        </a:defRPr>
                      </a:pPr>
                      <a:r>
                        <a:t>sh -c 'exit 7'</a:t>
                      </a:r>
                    </a:p>
                  </a:txBody>
                  <a:tcPr marL="73152" marR="45720" marT="32004" marB="18288">
                    <a:solidFill>
                      <a:srgbClr val="F1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142"/>
                          </a:solidFill>
                          <a:latin typeface="Aptos"/>
                        </a:defRPr>
                      </a:pPr>
                      <a:r>
                        <a:t>Exit status 7 is reported</a:t>
                      </a:r>
                    </a:p>
                  </a:txBody>
                  <a:tcPr marL="73152" marR="45720" marT="32004" marB="18288">
                    <a:solidFill>
                      <a:srgbClr val="F1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4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142"/>
                          </a:solidFill>
                          <a:latin typeface="Aptos"/>
                        </a:defRPr>
                      </a:pPr>
                      <a:r>
                        <a:t>Repeated runs</a:t>
                      </a:r>
                    </a:p>
                  </a:txBody>
                  <a:tcPr marL="73152" marR="45720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142"/>
                          </a:solidFill>
                          <a:latin typeface="Aptos"/>
                        </a:defRPr>
                      </a:pPr>
                      <a:r>
                        <a:t>Run the same command several times</a:t>
                      </a:r>
                    </a:p>
                  </a:txBody>
                  <a:tcPr marL="73152" marR="45720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142"/>
                          </a:solidFill>
                          <a:latin typeface="Aptos"/>
                        </a:defRPr>
                      </a:pPr>
                      <a:r>
                        <a:t>Each result is recorded; summary stats are consistent</a:t>
                      </a:r>
                    </a:p>
                  </a:txBody>
                  <a:tcPr marL="73152" marR="45720" marT="32004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870448"/>
            <a:ext cx="10789920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200" b="0">
                <a:solidFill>
                  <a:srgbClr val="657284"/>
                </a:solidFill>
                <a:latin typeface="Aptos"/>
              </a:rPr>
              <a:t>Measurement note: short commands are dominated by startup overhead; repeat runs and compare distributions for more meaningful results.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2700" b="1">
                <a:solidFill>
                  <a:srgbClr val="101C33"/>
                </a:solidFill>
                <a:latin typeface="Aptos"/>
              </a:rPr>
              <a:t>Sample Results &amp; Interpretation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731520" cy="50292"/>
          </a:xfrm>
          <a:prstGeom prst="rect">
            <a:avLst/>
          </a:prstGeom>
          <a:solidFill>
            <a:srgbClr val="27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832104"/>
            <a:ext cx="9875520" cy="2468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000" b="0">
                <a:solidFill>
                  <a:srgbClr val="657284"/>
                </a:solidFill>
                <a:latin typeface="Aptos"/>
              </a:rPr>
              <a:t>Illustrative output — replace with measurements from your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/>
            <a:r>
              <a:rPr sz="1000" b="0">
                <a:solidFill>
                  <a:srgbClr val="657284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6400800" cy="3520440"/>
          </a:xfrm>
          <a:prstGeom prst="roundRect">
            <a:avLst/>
          </a:prstGeom>
          <a:solidFill>
            <a:srgbClr val="10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5852160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500" b="1">
                <a:solidFill>
                  <a:srgbClr val="27BEBE"/>
                </a:solidFill>
                <a:latin typeface="Consolas"/>
              </a:rPr>
              <a:t>$ profiler sleep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5760720" cy="23317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onsolas"/>
              </a:rPr>
              <a:t>Command       : sleep 2
Elapsed time  : 2.004 s
User CPU time : 0.001 s
System CPU    : 0.002 s
Exit status   : 0
Peak memory   : platform-dependent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417320"/>
            <a:ext cx="3840480" cy="1234440"/>
          </a:xfrm>
          <a:prstGeom prst="roundRect">
            <a:avLst/>
          </a:prstGeom>
          <a:solidFill>
            <a:srgbClr val="F1F6FC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79" y="1417320"/>
            <a:ext cx="68580" cy="1234440"/>
          </a:xfrm>
          <a:prstGeom prst="rect">
            <a:avLst/>
          </a:prstGeom>
          <a:solidFill>
            <a:srgbClr val="27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99248" y="1554480"/>
            <a:ext cx="3493008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600" b="1">
                <a:solidFill>
                  <a:srgbClr val="101C33"/>
                </a:solidFill>
                <a:latin typeface="Aptos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1938528"/>
            <a:ext cx="3474720" cy="62179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200" b="0">
                <a:solidFill>
                  <a:srgbClr val="263142"/>
                </a:solidFill>
                <a:latin typeface="Aptos"/>
              </a:rPr>
              <a:t>The command waits for time to pass; elapsed time is high while CPU time is very 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926080"/>
            <a:ext cx="3840480" cy="1234440"/>
          </a:xfrm>
          <a:prstGeom prst="roundRect">
            <a:avLst/>
          </a:prstGeom>
          <a:solidFill>
            <a:srgbClr val="F1F6FC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98079" y="2926080"/>
            <a:ext cx="68580" cy="1234440"/>
          </a:xfrm>
          <a:prstGeom prst="rect">
            <a:avLst/>
          </a:prstGeom>
          <a:solidFill>
            <a:srgbClr val="F4A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99248" y="3063240"/>
            <a:ext cx="3493008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600" b="1">
                <a:solidFill>
                  <a:srgbClr val="101C33"/>
                </a:solidFill>
                <a:latin typeface="Aptos"/>
              </a:rPr>
              <a:t>What to compare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3447288"/>
            <a:ext cx="3474720" cy="62179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200" b="0">
                <a:solidFill>
                  <a:srgbClr val="263142"/>
                </a:solidFill>
                <a:latin typeface="Aptos"/>
              </a:rPr>
              <a:t>Elapsed time, CPU time, memory, exit status, and variability across repeated runs.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57800"/>
            <a:ext cx="10607040" cy="5943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300" b="0">
                <a:solidFill>
                  <a:srgbClr val="657284"/>
                </a:solidFill>
                <a:latin typeface="Aptos"/>
              </a:rPr>
              <a:t>These values are examples only, not measured results from an executed implementation. Actual values vary by system and load.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2700" b="1">
                <a:solidFill>
                  <a:srgbClr val="101C33"/>
                </a:solidFill>
                <a:latin typeface="Aptos"/>
              </a:rPr>
              <a:t>Impact, Conclusion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731520" cy="50292"/>
          </a:xfrm>
          <a:prstGeom prst="rect">
            <a:avLst/>
          </a:prstGeom>
          <a:solidFill>
            <a:srgbClr val="27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832104"/>
            <a:ext cx="9875520" cy="2468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000" b="0">
                <a:solidFill>
                  <a:srgbClr val="657284"/>
                </a:solidFill>
                <a:latin typeface="Aptos"/>
              </a:rPr>
              <a:t>How the profiler helps users make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/>
            <a:r>
              <a:rPr sz="1000" b="0">
                <a:solidFill>
                  <a:srgbClr val="657284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29000" cy="1691640"/>
          </a:xfrm>
          <a:prstGeom prst="roundRect">
            <a:avLst/>
          </a:prstGeom>
          <a:solidFill>
            <a:srgbClr val="F1F6FC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68580" cy="169164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08760"/>
            <a:ext cx="3081528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600" b="1">
                <a:solidFill>
                  <a:srgbClr val="101C33"/>
                </a:solidFill>
                <a:latin typeface="Aptos"/>
              </a:rPr>
              <a:t>Learning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92807"/>
            <a:ext cx="3063240" cy="107899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300" b="0">
                <a:solidFill>
                  <a:srgbClr val="263142"/>
                </a:solidFill>
                <a:latin typeface="Aptos"/>
              </a:rPr>
              <a:t>Demonstrates Linux processes, timing, CPU usage, and system resource accounting.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29000" cy="1691640"/>
          </a:xfrm>
          <a:prstGeom prst="roundRect">
            <a:avLst/>
          </a:prstGeom>
          <a:solidFill>
            <a:srgbClr val="F1F6FC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68580" cy="1691640"/>
          </a:xfrm>
          <a:prstGeom prst="rect">
            <a:avLst/>
          </a:prstGeom>
          <a:solidFill>
            <a:srgbClr val="27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508760"/>
            <a:ext cx="3081528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600" b="1">
                <a:solidFill>
                  <a:srgbClr val="101C33"/>
                </a:solidFill>
                <a:latin typeface="Aptos"/>
              </a:rPr>
              <a:t>Practical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892807"/>
            <a:ext cx="3063240" cy="107899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300" b="0">
                <a:solidFill>
                  <a:srgbClr val="263142"/>
                </a:solidFill>
                <a:latin typeface="Aptos"/>
              </a:rPr>
              <a:t>Makes it easier to identify slow commands and compare alternative workflows.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429000" cy="1691640"/>
          </a:xfrm>
          <a:prstGeom prst="roundRect">
            <a:avLst/>
          </a:prstGeom>
          <a:solidFill>
            <a:srgbClr val="F1F6FC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68580" cy="1691640"/>
          </a:xfrm>
          <a:prstGeom prst="rect">
            <a:avLst/>
          </a:prstGeom>
          <a:solidFill>
            <a:srgbClr val="F4A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508760"/>
            <a:ext cx="3081528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600" b="1">
                <a:solidFill>
                  <a:srgbClr val="101C33"/>
                </a:solidFill>
                <a:latin typeface="Aptos"/>
              </a:rPr>
              <a:t>Key conclusion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892807"/>
            <a:ext cx="3063240" cy="107899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300" b="0">
                <a:solidFill>
                  <a:srgbClr val="263142"/>
                </a:solidFill>
                <a:latin typeface="Aptos"/>
              </a:rPr>
              <a:t>Consistent measurements help users reason about performance instead of guessing.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520440"/>
            <a:ext cx="5029200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2000" b="1">
                <a:solidFill>
                  <a:srgbClr val="101C33"/>
                </a:solidFill>
                <a:latin typeface="Aptos"/>
              </a:rPr>
              <a:t>Future enhancements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977639"/>
            <a:ext cx="10515600" cy="1600200"/>
          </a:xfrm>
          <a:prstGeom prst="rect">
            <a:avLst/>
          </a:prstGeom>
          <a:noFill/>
        </p:spPr>
        <p:txBody>
          <a:bodyPr wrap="square" lIns="73152" tIns="36576" rIns="36576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3142"/>
                </a:solidFill>
                <a:latin typeface="Aptos"/>
              </a:defRPr>
            </a:pPr>
            <a:r>
              <a:t>•  Add CSV/JSON export and command history.</a:t>
            </a:r>
          </a:p>
          <a:p>
            <a:pPr>
              <a:spcAft>
                <a:spcPts val="700"/>
              </a:spcAft>
              <a:defRPr sz="1500">
                <a:solidFill>
                  <a:srgbClr val="263142"/>
                </a:solidFill>
                <a:latin typeface="Aptos"/>
              </a:defRPr>
            </a:pPr>
            <a:r>
              <a:t>•  Add repeat mode with median, average, minimum, and maximum statistics.</a:t>
            </a:r>
          </a:p>
          <a:p>
            <a:pPr>
              <a:spcAft>
                <a:spcPts val="700"/>
              </a:spcAft>
              <a:defRPr sz="1500">
                <a:solidFill>
                  <a:srgbClr val="263142"/>
                </a:solidFill>
                <a:latin typeface="Aptos"/>
              </a:defRPr>
            </a:pPr>
            <a:r>
              <a:t>•  Capture peak memory, I/O counters, and child-process resource usage where supported.</a:t>
            </a:r>
          </a:p>
          <a:p>
            <a:pPr>
              <a:spcAft>
                <a:spcPts val="700"/>
              </a:spcAft>
              <a:defRPr sz="1500">
                <a:solidFill>
                  <a:srgbClr val="263142"/>
                </a:solidFill>
                <a:latin typeface="Aptos"/>
              </a:defRPr>
            </a:pPr>
            <a:r>
              <a:t>•  Add charts or a small dashboard for comparing commands over time.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989320"/>
            <a:ext cx="9875520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2000" b="1">
                <a:solidFill>
                  <a:srgbClr val="2D69BE"/>
                </a:solidFill>
                <a:latin typeface="Aptos"/>
              </a:rPr>
              <a:t>Thank you  |  Questions?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2700" b="1">
                <a:solidFill>
                  <a:srgbClr val="101C33"/>
                </a:solidFill>
                <a:latin typeface="Aptos"/>
              </a:rPr>
              <a:t>Demo Plan &amp; Run Instructions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731520" cy="50292"/>
          </a:xfrm>
          <a:prstGeom prst="rect">
            <a:avLst/>
          </a:prstGeom>
          <a:solidFill>
            <a:srgbClr val="27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832104"/>
            <a:ext cx="9875520" cy="2468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000" b="0">
                <a:solidFill>
                  <a:srgbClr val="657284"/>
                </a:solidFill>
                <a:latin typeface="Aptos"/>
              </a:rPr>
              <a:t>A concise demonstration for the project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/>
            <a:r>
              <a:rPr sz="1000" b="0">
                <a:solidFill>
                  <a:srgbClr val="657284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1828800"/>
          </a:xfrm>
          <a:prstGeom prst="roundRect">
            <a:avLst/>
          </a:prstGeom>
          <a:solidFill>
            <a:srgbClr val="F1F6FC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68580" cy="18288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08760"/>
            <a:ext cx="4864608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600" b="1">
                <a:solidFill>
                  <a:srgbClr val="101C33"/>
                </a:solidFill>
                <a:latin typeface="Aptos"/>
              </a:rPr>
              <a:t>Demo sequence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92807"/>
            <a:ext cx="4846320" cy="121615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300" b="0">
                <a:solidFill>
                  <a:srgbClr val="263142"/>
                </a:solidFill>
                <a:latin typeface="Aptos"/>
              </a:rPr>
              <a:t>1. Run a quick command such as `echo hello`.
2. Run `sleep 2` to show elapsed vs CPU time.
3. Run a CPU-heavy command for a short bounded workload.
4. Try an invalid command and inspect error handling.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1828800"/>
          </a:xfrm>
          <a:prstGeom prst="roundRect">
            <a:avLst/>
          </a:prstGeom>
          <a:solidFill>
            <a:srgbClr val="F1F6FC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68580" cy="1828800"/>
          </a:xfrm>
          <a:prstGeom prst="rect">
            <a:avLst/>
          </a:prstGeom>
          <a:solidFill>
            <a:srgbClr val="27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508760"/>
            <a:ext cx="4864608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600" b="1">
                <a:solidFill>
                  <a:srgbClr val="101C33"/>
                </a:solidFill>
                <a:latin typeface="Aptos"/>
              </a:rPr>
              <a:t>Build/run example (C)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892807"/>
            <a:ext cx="4846320" cy="121615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300" b="0">
                <a:solidFill>
                  <a:srgbClr val="263142"/>
                </a:solidFill>
                <a:latin typeface="Aptos"/>
              </a:rPr>
              <a:t>Compile: `gcc profiler.c -o profiler`
Run: `./profiler sleep 2`
Exact commands depend on your source code and implementation.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4846320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2000" b="1">
                <a:solidFill>
                  <a:srgbClr val="101C33"/>
                </a:solidFill>
                <a:latin typeface="Aptos"/>
              </a:rPr>
              <a:t>What to explain during the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14800"/>
            <a:ext cx="10424160" cy="1508760"/>
          </a:xfrm>
          <a:prstGeom prst="rect">
            <a:avLst/>
          </a:prstGeom>
          <a:noFill/>
        </p:spPr>
        <p:txBody>
          <a:bodyPr wrap="square" lIns="73152" tIns="36576" rIns="36576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63142"/>
                </a:solidFill>
                <a:latin typeface="Aptos"/>
              </a:defRPr>
            </a:pPr>
            <a:r>
              <a:t>•  Elapsed time includes waiting; user/system time measure CPU activity.</a:t>
            </a:r>
          </a:p>
          <a:p>
            <a:pPr>
              <a:spcAft>
                <a:spcPts val="800"/>
              </a:spcAft>
              <a:defRPr sz="1600">
                <a:solidFill>
                  <a:srgbClr val="263142"/>
                </a:solidFill>
                <a:latin typeface="Aptos"/>
              </a:defRPr>
            </a:pPr>
            <a:r>
              <a:t>•  A nonzero exit status does not necessarily mean the profiler failed—the target command may have failed.</a:t>
            </a:r>
          </a:p>
          <a:p>
            <a:pPr>
              <a:spcAft>
                <a:spcPts val="800"/>
              </a:spcAft>
              <a:defRPr sz="1600">
                <a:solidFill>
                  <a:srgbClr val="263142"/>
                </a:solidFill>
                <a:latin typeface="Aptos"/>
              </a:defRPr>
            </a:pPr>
            <a:r>
              <a:t>•  Measurements vary with OS scheduling, cache state, and background load.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1143000"/>
            <a:ext cx="10424160" cy="5029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400" b="1">
                <a:solidFill>
                  <a:srgbClr val="27BEBE"/>
                </a:solidFill>
                <a:latin typeface="Aptos"/>
              </a:rPr>
              <a:t>LINUX COMMAND EXECUTION TIME PROFILER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9601200" cy="9144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Measure command performance.
Understand resource usage.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657600"/>
            <a:ext cx="7955279" cy="7315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900" b="0" dirty="0">
                <a:solidFill>
                  <a:srgbClr val="D2E0F0"/>
                </a:solidFill>
                <a:latin typeface="Aptos"/>
              </a:rPr>
              <a:t>A lightweight tool for repeatable timing, clearer comparisons, and better debugging decisions.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4754880"/>
            <a:ext cx="914400" cy="54864"/>
          </a:xfrm>
          <a:prstGeom prst="rect">
            <a:avLst/>
          </a:prstGeom>
          <a:solidFill>
            <a:srgbClr val="27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5166360"/>
            <a:ext cx="54864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2000" b="1" dirty="0">
                <a:solidFill>
                  <a:srgbClr val="FFFFFF"/>
                </a:solidFill>
                <a:latin typeface="Aptos"/>
              </a:rPr>
              <a:t>Thank you </a:t>
            </a:r>
            <a:r>
              <a:rPr lang="en-US" sz="2000" b="1" dirty="0">
                <a:solidFill>
                  <a:srgbClr val="FFFFFF"/>
                </a:solidFill>
                <a:latin typeface="Aptos"/>
              </a:rPr>
              <a:t>.</a:t>
            </a:r>
            <a:endParaRPr sz="2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6263640"/>
            <a:ext cx="7315200" cy="200055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r>
              <a:rPr sz="1000" b="0" dirty="0">
                <a:solidFill>
                  <a:srgbClr val="9BB0CB"/>
                </a:solidFill>
                <a:latin typeface="Aptos"/>
              </a:rPr>
              <a:t>Prepared by: [</a:t>
            </a:r>
            <a:r>
              <a:rPr lang="en-US" sz="1000" dirty="0">
                <a:solidFill>
                  <a:srgbClr val="9BB0CB"/>
                </a:solidFill>
                <a:latin typeface="Aptos"/>
              </a:rPr>
              <a:t>M.AVISHYA , G.VARSHINI , K.PRAGNYA.</a:t>
            </a:r>
            <a:r>
              <a:rPr sz="1000" b="0" dirty="0">
                <a:solidFill>
                  <a:srgbClr val="9BB0CB"/>
                </a:solidFill>
                <a:latin typeface="Aptos"/>
              </a:rPr>
              <a:t>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1346</Words>
  <Application>Microsoft Office PowerPoint</Application>
  <PresentationFormat>Widescreen</PresentationFormat>
  <Paragraphs>178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Geriganti Nishanth</cp:lastModifiedBy>
  <cp:revision>2</cp:revision>
  <dcterms:created xsi:type="dcterms:W3CDTF">2013-01-27T09:14:16Z</dcterms:created>
  <dcterms:modified xsi:type="dcterms:W3CDTF">2026-10-16T13:57:00Z</dcterms:modified>
  <cp:category/>
</cp:coreProperties>
</file>